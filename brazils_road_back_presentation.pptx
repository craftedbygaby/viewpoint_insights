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7E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Brazil's Road Back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Tourism Recovery 2015–2024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3657600" cy="36576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9718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Gabriela Cascione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IronHack Data Analytics Bootcamp  |  Final Project  |  May 2026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4297680"/>
            <a:ext cx="320040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Project?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840480" cy="3474720"/>
          </a:xfrm>
          <a:prstGeom prst="rect">
            <a:avLst/>
          </a:prstGeom>
          <a:solidFill>
            <a:srgbClr val="D6EEF7"/>
          </a:solidFill>
          <a:ln w="12700">
            <a:solidFill>
              <a:srgbClr val="D6EE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840480" cy="457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Connection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3474720"/>
          </a:xfrm>
          <a:prstGeom prst="rect">
            <a:avLst/>
          </a:prstGeom>
          <a:solidFill>
            <a:srgbClr val="FCEFD6"/>
          </a:solidFill>
          <a:ln w="12700">
            <a:solidFill>
              <a:srgbClr val="FCEFD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 Opportunity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840480" cy="347472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840480" cy="457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Ministério do Turismo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 separate yearly CSVs (2015–2024)
• Cleaned &amp; merged into one dataset
• 439,438 rows, monthly granularity
• Country of origin, entry route, state
• COVID period &amp; season flags added
• Source: Polícia Federal border records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Limitation: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common state entries pre-aggregated — only top states visible individually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347472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Tourism (UNWTO)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220+ countries, annual data (1995–2024)
• Overnight tourists &amp; same-day visitors
• Verified against Our World in Data
• Global context — Brazil vs world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Limitations: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only — no monthly/seasonal data. Voluntary reporting — missing countries introduce bias in global rankings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Limitations &amp; Bias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41248"/>
            <a:ext cx="566928" cy="89611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41248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90525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Pre-aggregation — Brazilian states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78992" y="1243584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Ministério do Turismo aggregates less common state entries into 'Outras Unidades da Federação'. Only top states are visible individually — granular state-level analysis is limited.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865376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865376"/>
            <a:ext cx="566928" cy="896112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65376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78992" y="192938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data only — UNWTO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226771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 Tourism database provides yearly totals only. Monthly and seasonal fluctuation analysis is only possible with the Brazilian dataset.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889504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889504"/>
            <a:ext cx="566928" cy="896112"/>
          </a:xfrm>
          <a:prstGeom prst="rect">
            <a:avLst/>
          </a:prstGeom>
          <a:solidFill>
            <a:srgbClr val="6B7C8D"/>
          </a:solidFill>
          <a:ln w="12700">
            <a:solidFill>
              <a:srgbClr val="6B7C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889504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8992" y="295351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Voluntary reporting — UNWTO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78992" y="3291840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 self-report to the UN. Missing reports can bias global comparisons and rankings, particularly for less developed tourism markets.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913632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913632"/>
            <a:ext cx="566928" cy="896112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913632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78992" y="397764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Unequal period lengths in COVID comparison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4315968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Pre-COVID label covers 5 years of data (2015–2019), but comparison uses only 2017–2019 (3 years) to match the 3 post-COVID years available (2022–2024). The full 5-year pre-COVID average would differ slightly.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8B6D8"/>
          </a:solidFill>
          <a:ln w="12700">
            <a:solidFill>
              <a:srgbClr val="38B6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A8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Analysis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 Dashboards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interactive dashboards — live demo below.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931920" cy="2057400"/>
          </a:xfrm>
          <a:prstGeom prst="rect">
            <a:avLst/>
          </a:prstGeom>
          <a:solidFill>
            <a:srgbClr val="1A3A4A"/>
          </a:solidFill>
          <a:ln w="12700">
            <a:solidFill>
              <a:srgbClr val="1A3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286000"/>
            <a:ext cx="3931920" cy="475488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1343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Panorama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2834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arrivals, continent breakdown, Brazil vs world ranking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2286000"/>
            <a:ext cx="3931920" cy="2057400"/>
          </a:xfrm>
          <a:prstGeom prst="rect">
            <a:avLst/>
          </a:prstGeom>
          <a:solidFill>
            <a:srgbClr val="1A3A4A"/>
          </a:solidFill>
          <a:ln w="12700">
            <a:solidFill>
              <a:srgbClr val="1A3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2286000"/>
            <a:ext cx="3931920" cy="475488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231343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 Deep Dive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46320" y="2834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timeline, who visits, entry routes, seasonality, state map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462272"/>
            <a:ext cx="8229600" cy="38404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4489704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→  [Tableau Public link — to be added before presentation]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underway — 2024 surpasses 2019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600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Post-COVID avg ~5.7M/yr vs pre-COVID ~6.4M. However 2024 reached 6.7M — the first year to surpass the pre-COVID peak.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10972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0600" y="10972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65192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neighbours drive arrivals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65192" y="1600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Argentina alone = ~33% of all arrivals. 7 of the top 10 origin countries are South American neighbours.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9260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Summer is king — but winter matters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" y="34290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of arrivals in summer (Carnaval + Réveillon + beach season). Winter secondary peak from Northern Hemisphere school holidays.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00600" y="29260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00600" y="29260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65192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dominates, sea recovering slowest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65192" y="34290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entries recovering fastest post-COVID. Sea entries (cruise ships) show the slowest recovery — cruise tourism rebuilds confidence slowly.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200400" cy="3657600"/>
          </a:xfrm>
          <a:prstGeom prst="rect">
            <a:avLst/>
          </a:prstGeom>
          <a:solidFill>
            <a:srgbClr val="D6EEF7"/>
          </a:solidFill>
          <a:ln w="12700">
            <a:solidFill>
              <a:srgbClr val="D6EE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3200400" cy="43891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5097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Analysis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481328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2025 &amp; 2026 data to enable a true balanced comparison: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" y="2084832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2121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Pre-COVID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0352" y="239572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2015–2019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years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29968" y="2084832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84832" y="2121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A0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Post-COVID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84832" y="239572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2022–2026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years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5488" y="3063240"/>
            <a:ext cx="29992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only 3 post-COVID years (2022–2024) are available. Adding 2025–2026 data would create a symmetrical 5-year vs 5-year comparison for a more reliable and balanced recovery analysis.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40480" y="914400"/>
            <a:ext cx="4937760" cy="36576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840480" y="914400"/>
            <a:ext cx="4937760" cy="438912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0208" y="9509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 Travel Recommender — Streamlit App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50208" y="1481328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interactive app recommending Brazilian destinations based on: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50208" y="1865376"/>
            <a:ext cx="473659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23360" y="192938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travel: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69280" y="192938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— January to December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50208" y="2359152"/>
            <a:ext cx="473659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23360" y="2423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type: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0" y="24231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Nature, beach, culture, adventure, city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50208" y="2852928"/>
            <a:ext cx="473659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23360" y="291693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Crowd preference: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0" y="29169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 the buzz vs prefer quiet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950208" y="3346704"/>
            <a:ext cx="473659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23360" y="34107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preference: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0" y="34107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Hot, warm, mild, cool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950208" y="3858768"/>
            <a:ext cx="4736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destination recommendations with best months, key events, weather &amp; crowd profile, and destination context.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840480" y="4206240"/>
            <a:ext cx="4937760" cy="365760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950208" y="4224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→  [Streamlit app link — to be added before presentation]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7E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 is back — and the data proves it.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3063240"/>
            <a:ext cx="3200400" cy="36576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246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Gabriela Cascione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github.com/craftedbygaby  |  IronHack Data Analytics Bootcamp  |  May 2026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4251960"/>
            <a:ext cx="3200400" cy="6126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2026-05-26T12:05:12Z</dcterms:created>
  <dcterms:modified xsi:type="dcterms:W3CDTF">2026-05-26T12:05:12Z</dcterms:modified>
</cp:coreProperties>
</file>