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13" autoAdjust="0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8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9232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gabriela.cascione/viz/BrazilsRoadBackInternationalTourismRecovery20152024/D1-Worl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brazil-travel-recommender.streamlit.app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7E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Brazil's Road Back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Tourism Recovery 2015–2024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3657600" cy="36576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9718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 Cascione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IronHack Data Analytics Bootcamp  |  Final Project  |  May 2026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297680"/>
            <a:ext cx="320040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Project?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840480" cy="347472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840480" cy="457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Connection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3474720"/>
          </a:xfrm>
          <a:prstGeom prst="rect">
            <a:avLst/>
          </a:prstGeom>
          <a:solidFill>
            <a:srgbClr val="FCEFD6"/>
          </a:solidFill>
          <a:ln w="12700">
            <a:solidFill>
              <a:srgbClr val="FCEFD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Opportunity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9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8539814E-C30C-D826-A475-44C3E0138BD6}"/>
              </a:ext>
            </a:extLst>
          </p:cNvPr>
          <p:cNvSpPr/>
          <p:nvPr/>
        </p:nvSpPr>
        <p:spPr>
          <a:xfrm>
            <a:off x="54864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Bachelors in Tourism, with emphasis in 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Tourism development
• Believe tourism is one of the most powerful tools for building a less prejudiced, more connected world
• Experienced COVID from both Germany and Brazil, and saw firsthand how differently two countries can respond to the same crisis
• Brazil still has enormous untapped. This project is my attempt to show that through data</a:t>
            </a: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D0FF87FC-2D69-1900-DB54-9970730047B5}"/>
              </a:ext>
            </a:extLst>
          </p:cNvPr>
          <p:cNvSpPr/>
          <p:nvPr/>
        </p:nvSpPr>
        <p:spPr>
          <a:xfrm>
            <a:off x="493776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Built entirely on official government data: </a:t>
            </a:r>
            <a:r>
              <a:rPr lang="en-US" sz="1400" dirty="0" err="1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Ministério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 do Turismo and UN Tourism
• Touches on most of what we covered during the bootcamp: data cleaning and wrangling, EDA, visualization and app development
• Global benchmarking puts Brazil's recovery in perspective against 220+ countries
• A strong portfolio piece that combines technical skills with a topic I genuinely care about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840480" cy="34747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840480" cy="457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Ministério do Turismo (Brazil)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56232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 separate yearly CSVs (2015–2024)
• Cleaned &amp; merged into one dataset
• 439,438 rows, monthly granularity
• Country of origin, entry route, state
• COVID period &amp; season flags added
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34747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Tourism (UNWTO)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474720" cy="2637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200+ countries, annual data (1995–2024)
• 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Overnight tourists &amp; same-day visitors
• Verified against Brazil's official entry records: totals are consistent between both sources 
• Global context: Brazil vs world</a:t>
            </a:r>
            <a:endParaRPr lang="en-US" sz="1100" dirty="0">
              <a:solidFill>
                <a:srgbClr val="2C3E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Limitations &amp; Bias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41248"/>
            <a:ext cx="566928" cy="89611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41248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90525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Pre-aggregation — Brazilian states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78992" y="1243584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Ministério do Turismo aggregates less common state entries into 'Outras Unidades da Federação'. Only top states are visible individually — granular state-level analysis is limited.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865376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865376"/>
            <a:ext cx="566928" cy="896112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65376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192938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data only — UNWTO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26771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 Tourism database provides yearly totals only. Monthly and seasonal fluctuation analysis is only possible with the Brazilian dataset.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889504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889504"/>
            <a:ext cx="566928" cy="896112"/>
          </a:xfrm>
          <a:prstGeom prst="rect">
            <a:avLst/>
          </a:prstGeom>
          <a:solidFill>
            <a:srgbClr val="6B7C8D"/>
          </a:solidFill>
          <a:ln w="12700">
            <a:solidFill>
              <a:srgbClr val="6B7C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889504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8992" y="295351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Voluntary reporting — UNWTO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78992" y="329184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 self-report to the UN. Missing reports can bias global comparisons and rankings.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913632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913632"/>
            <a:ext cx="566928" cy="896112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913632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78992" y="397764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Unequal period lengths in COVID comparison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4315968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Pre-COVID label covers 5 years of data (2015–2019), and Post Covid covers only 3 years. However, we can do yearly analysis via filters in the Brazil dashboard.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Questions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858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502920" cy="6858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06070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Brazil's recovery compare to the global average?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8412480" cy="6858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719072"/>
            <a:ext cx="502920" cy="6858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19072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8653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did total arrivals collapse in 2020-2021 and recover through 2024? Are we back to 2019 levels?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523744"/>
            <a:ext cx="8412480" cy="6858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523744"/>
            <a:ext cx="502920" cy="6858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523744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267004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countries sent the most tourists to Brazil pre-COVID vs post-COVID?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28416"/>
            <a:ext cx="8412480" cy="6858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328416"/>
            <a:ext cx="502920" cy="6858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328416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47472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the balance between air, land, sea and river entries changed since COVID?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33088"/>
            <a:ext cx="8412480" cy="685800"/>
          </a:xfrm>
          <a:prstGeom prst="rect">
            <a:avLst/>
          </a:prstGeom>
          <a:solidFill>
            <a:srgbClr val="FCEFD6"/>
          </a:solidFill>
          <a:ln w="12700">
            <a:solidFill>
              <a:srgbClr val="D9A0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4133088"/>
            <a:ext cx="502920" cy="6858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13308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427939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How can Brazil improve destination visibility during its tourism recovery?</a:t>
            </a:r>
          </a:p>
        </p:txBody>
      </p:sp>
      <p:sp>
        <p:nvSpPr>
          <p:cNvPr id="25" name="Text 23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6D8"/>
          </a:solidFill>
          <a:ln w="12700">
            <a:solidFill>
              <a:srgbClr val="38B6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A8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Analysis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Dashboards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interactive dashboards — live demo below.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931920" cy="205740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286000"/>
            <a:ext cx="3931920" cy="475488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134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Panorama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834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arrivals, continent breakdown, Brazil vs world ranking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2286000"/>
            <a:ext cx="3931920" cy="205740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286000"/>
            <a:ext cx="3931920" cy="475488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23134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Deep Dive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timeline, who visits, entry routes, seasonality, state map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462272"/>
            <a:ext cx="8229600" cy="38404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15" name="Text 13">
            <a:hlinkClick r:id="rId3"/>
          </p:cNvPr>
          <p:cNvSpPr/>
          <p:nvPr/>
        </p:nvSpPr>
        <p:spPr>
          <a:xfrm>
            <a:off x="594360" y="4489704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Brazil is back: 2024 surpasses the 2018 peak</a:t>
            </a:r>
          </a:p>
        </p:txBody>
      </p:sp>
      <p:sp>
        <p:nvSpPr>
          <p:cNvPr id="7" name="Text 5"/>
          <p:cNvSpPr/>
          <p:nvPr/>
        </p:nvSpPr>
        <p:spPr>
          <a:xfrm>
            <a:off x="530352" y="1600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With 2018 as the baseline with 6.6M arrivals, Brazil has fully recovered. In 2024 the country welcomed 6.8M international tourists, surpassing the pre-COVID peak for the first time.</a:t>
            </a:r>
          </a:p>
        </p:txBody>
      </p:sp>
      <p:sp>
        <p:nvSpPr>
          <p:cNvPr id="8" name="Shape 6"/>
          <p:cNvSpPr/>
          <p:nvPr/>
        </p:nvSpPr>
        <p:spPr>
          <a:xfrm>
            <a:off x="4800600" y="10972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10972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65192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Neighbours</a:t>
            </a:r>
            <a:r>
              <a:rPr lang="en-US" sz="1200" b="1" dirty="0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 and visa-free allies lead the way</a:t>
            </a:r>
          </a:p>
        </p:txBody>
      </p:sp>
      <p:sp>
        <p:nvSpPr>
          <p:cNvPr id="11" name="Text 9"/>
          <p:cNvSpPr/>
          <p:nvPr/>
        </p:nvSpPr>
        <p:spPr>
          <a:xfrm>
            <a:off x="4965192" y="14859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Argentina accounts for roughly 1 in 3 arrivals. Between 2022 and 2024, every single country in the top 10 had visa-free access to Brazil.</a:t>
            </a:r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9260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Summer is king, </a:t>
            </a:r>
            <a:r>
              <a:rPr lang="pt-BR" sz="1200" b="1" dirty="0" err="1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but</a:t>
            </a:r>
            <a:r>
              <a:rPr lang="pt-BR" sz="1200" b="1" dirty="0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pt-BR" sz="1200" b="1" dirty="0" err="1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every</a:t>
            </a:r>
            <a:r>
              <a:rPr lang="pt-BR" sz="1200" b="1" dirty="0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pt-BR" sz="1200" b="1" dirty="0" err="1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season</a:t>
            </a:r>
            <a:r>
              <a:rPr lang="pt-BR" sz="1200" b="1" dirty="0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pt-BR" sz="1200" b="1" dirty="0" err="1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matters</a:t>
            </a:r>
            <a:endParaRPr lang="pt-BR" sz="1200" b="1" dirty="0">
              <a:solidFill>
                <a:srgbClr val="0D7EA8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0352" y="34290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40% of arrivals happen in summer, driven by Carnaval, Réveillon and beach season. The remaining seasons share the rest in a surprisingly balanced split.</a:t>
            </a:r>
          </a:p>
        </p:txBody>
      </p:sp>
      <p:sp>
        <p:nvSpPr>
          <p:cNvPr id="16" name="Shape 14"/>
          <p:cNvSpPr/>
          <p:nvPr/>
        </p:nvSpPr>
        <p:spPr>
          <a:xfrm>
            <a:off x="4800600" y="29260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00600" y="29260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and Land dominates</a:t>
            </a:r>
            <a:r>
              <a:rPr lang="en-US" sz="1200" b="1" dirty="0">
                <a:solidFill>
                  <a:srgbClr val="0D7EA8"/>
                </a:solidFill>
                <a:latin typeface="Arial" pitchFamily="34" charset="0"/>
                <a:cs typeface="Arial" pitchFamily="34" charset="-120"/>
              </a:rPr>
              <a:t>, but the mix has shifted </a:t>
            </a:r>
          </a:p>
        </p:txBody>
      </p:sp>
      <p:sp>
        <p:nvSpPr>
          <p:cNvPr id="19" name="Text 17"/>
          <p:cNvSpPr/>
          <p:nvPr/>
        </p:nvSpPr>
        <p:spPr>
          <a:xfrm>
            <a:off x="4965192" y="33832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Air entries have fully recovered and lead the rebound. Sea and river entries swapped positions post-COVID, signaling a shift in how visitors arrive.</a:t>
            </a:r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Travel Recommender App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interactive Streamlit app that recommends Brazilian destinations based on user travel preferences.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25880"/>
            <a:ext cx="1965960" cy="329184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travel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— January to December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87168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87168" y="1325880"/>
            <a:ext cx="1965960" cy="329184"/>
          </a:xfrm>
          <a:prstGeom prst="rect">
            <a:avLst/>
          </a:prstGeom>
          <a:solidFill>
            <a:srgbClr val="38B6D8"/>
          </a:solidFill>
          <a:ln w="12700">
            <a:solidFill>
              <a:srgbClr val="38B6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8608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type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78608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Nature, beach, culture, adventure, city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08576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1325880"/>
            <a:ext cx="1965960" cy="329184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0016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 preference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00016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 the buzz vs prefer quiet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29984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9984" y="1325880"/>
            <a:ext cx="1965960" cy="329184"/>
          </a:xfrm>
          <a:prstGeom prst="rect">
            <a:avLst/>
          </a:prstGeom>
          <a:solidFill>
            <a:srgbClr val="6B7C8D"/>
          </a:solidFill>
          <a:ln w="12700">
            <a:solidFill>
              <a:srgbClr val="6B7C8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21424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preference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21424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Hot, warm, mild, cool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2468880"/>
            <a:ext cx="8412480" cy="192024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dirty="0"/>
          </a:p>
        </p:txBody>
      </p:sp>
      <p:sp>
        <p:nvSpPr>
          <p:cNvPr id="22" name="Shape 20"/>
          <p:cNvSpPr/>
          <p:nvPr/>
        </p:nvSpPr>
        <p:spPr>
          <a:xfrm>
            <a:off x="365760" y="2468880"/>
            <a:ext cx="8412480" cy="34747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496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app returns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3063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Destination name, state and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3063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Best and good months to visit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080760" y="3063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Weather and crowd level profile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2920" y="37698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Why this month is great for this place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91840" y="37698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Brief description and highlights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080760" y="37698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Link to explore more on visitbrasil.com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462272"/>
            <a:ext cx="8412480" cy="347472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1" name="Text 29">
            <a:hlinkClick r:id="rId3"/>
          </p:cNvPr>
          <p:cNvSpPr/>
          <p:nvPr/>
        </p:nvSpPr>
        <p:spPr>
          <a:xfrm>
            <a:off x="502920" y="44897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200400" cy="393192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200400" cy="43891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5097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Analysis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481328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2025 &amp; 2026 data to enable a true balanced comparison: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2084832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Pre-COVID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0352" y="239572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2015–2019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years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29968" y="2084832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84832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A0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Post-COVID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84832" y="239572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2022–2026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years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" y="2944368"/>
            <a:ext cx="29992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only 3 post-COVID years available. Adding 2025–2026 data would create a symmetrical 5-year vs 5-year comparison for a more reliable recovery analysis.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40480" y="914400"/>
            <a:ext cx="4937760" cy="39319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0" y="914400"/>
            <a:ext cx="4937760" cy="438912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0208" y="9509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Recommender App — Future Development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50208" y="1508760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50208" y="1508760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78224" y="154533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data updates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78224" y="178308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best months and good months as tourism patterns evolve.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50208" y="2167128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50208" y="2167128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78224" y="2203704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destination database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78224" y="244144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51 destinations. Idea is to grow it to cover more municipalities and hidden gems across all states.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950208" y="2825496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50208" y="2825496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8224" y="286207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event calendar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078224" y="309981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a real-time events calendar so recommendations reflect upcoming festivals and local events that might not be a driven on themselves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950208" y="3483864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50208" y="3483864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78224" y="35204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Multi-destination trips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078224" y="37581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 users to plan itineraries with multiple destinations, optimised by geography and travel time.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950208" y="4142232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50208" y="4142232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78224" y="41788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Smarter recommendations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78224" y="441655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more personalised approaches beyond rule-based filtering.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7E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is back, and the data proves it.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063240"/>
            <a:ext cx="3200400" cy="36576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246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 Cascione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github.com/craftedbygaby  |  IronHack Data Analytics Bootcamp  |  May 2026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251960"/>
            <a:ext cx="3200400" cy="6126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980</Words>
  <Application>Microsoft Office PowerPoint</Application>
  <PresentationFormat>Apresentação na tela (16:9)</PresentationFormat>
  <Paragraphs>126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Brazil's Road Back</dc:title>
  <dc:subject>PptxGenJS Presentation</dc:subject>
  <dc:creator>Gabriela Cascione</dc:creator>
  <cp:lastModifiedBy>Gabriela Silva Cascione</cp:lastModifiedBy>
  <cp:revision>16</cp:revision>
  <cp:lastPrinted>2026-05-29T07:00:49Z</cp:lastPrinted>
  <dcterms:created xsi:type="dcterms:W3CDTF">2026-05-28T07:26:08Z</dcterms:created>
  <dcterms:modified xsi:type="dcterms:W3CDTF">2026-05-29T10:29:54Z</dcterms:modified>
</cp:coreProperties>
</file>