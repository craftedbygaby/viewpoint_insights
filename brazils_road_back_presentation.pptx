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232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razil-travel-recommender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E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Brazil's Road Back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100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Tourism Recovery 2015–2024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657600" cy="36576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Cascione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Data Analytics Bootcamp  |  Final Project  |  May 2026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297680"/>
            <a:ext cx="320040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D6EEF7"/>
          </a:solidFill>
          <a:ln w="12700">
            <a:solidFill>
              <a:srgbClr val="D6E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Connection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CEFD6"/>
          </a:solidFill>
          <a:ln w="12700">
            <a:solidFill>
              <a:srgbClr val="FCEF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D9A055"/>
          </a:solidFill>
          <a:ln w="12700">
            <a:solidFill>
              <a:srgbClr val="D9A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Opportunity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539814E-C30C-D826-A475-44C3E0138BD6}"/>
              </a:ext>
            </a:extLst>
          </p:cNvPr>
          <p:cNvSpPr/>
          <p:nvPr/>
        </p:nvSpPr>
        <p:spPr>
          <a:xfrm>
            <a:off x="54864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Bachelors in Tourism, with emphasis in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Tourism development
• Believe tourism is one of the most powerful tools for building a less prejudiced, more connected world
• Experienced COVID from both Germany and Brazil, and saw firsthand how differently two countries can respond to the same crisis
• Brazil still has enormous untapped. This project is my attempt to show that through data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0FF87FC-2D69-1900-DB54-9970730047B5}"/>
              </a:ext>
            </a:extLst>
          </p:cNvPr>
          <p:cNvSpPr/>
          <p:nvPr/>
        </p:nvSpPr>
        <p:spPr>
          <a:xfrm>
            <a:off x="493776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Built entirely on official government data: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Ministério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do Turismo and UN Tourism
• Touches on most of what we covered during the bootcamp: data cleaning and wrangling, EDA, visualization and app development
• Global benchmarking puts Brazil's recovery in perspective against 220+ countries
• A strong portfolio piece that combines technical skills with a topic I genuinely care about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Ministério do Turismo (Brazil)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separate yearly CSVs (2015–2024)
• Cleaned &amp; merged into one dataset
• 439,438 rows, monthly granularity
• Country of origin, entry route, state
• COVID period &amp; season flags added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D9A055"/>
          </a:solidFill>
          <a:ln w="12700">
            <a:solidFill>
              <a:srgbClr val="D9A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Tourism (UNWTO)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474720" cy="263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200+ countries, annual data (1995–2024)
•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Overnight tourists &amp; same-day visitors
• Verified against Brazil's official entry records: totals are consistent between both sources 
• Global context: Brazil vs world</a:t>
            </a:r>
            <a:endParaRPr lang="en-US" sz="11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Limitations &amp; Bias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896112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566928" cy="89611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566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9052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Pre-aggregation — Brazilian states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4358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Ministério do Turismo aggregates less common state entries into 'Outras Unidades da Federação'. Only top states are visible individually — granular state-level analysis is limited.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8412480" cy="896112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65376"/>
            <a:ext cx="566928" cy="896112"/>
          </a:xfrm>
          <a:prstGeom prst="rect">
            <a:avLst/>
          </a:prstGeom>
          <a:solidFill>
            <a:srgbClr val="D9A055"/>
          </a:solidFill>
          <a:ln w="12700">
            <a:solidFill>
              <a:srgbClr val="D9A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566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data only — UNWTO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26771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 Tourism database provides yearly totals only. Monthly and seasonal fluctuation analysis is only possible with the Brazilian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896112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9504"/>
            <a:ext cx="566928" cy="896112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9504"/>
            <a:ext cx="566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29535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reporting — UNWTO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29184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self-report to the UN. Missing reports can bias global comparisons and rankings, particularly for less developed tourism markets.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8412480" cy="896112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13632"/>
            <a:ext cx="566928" cy="89611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13632"/>
            <a:ext cx="566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39776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period lengths in COVID comparison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31596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Pre-COVID label covers 5 years of data (2015–2019), but comparison uses only 2017–2019 (3 years) to match the 3 post-COVID years available (2022–2024). The full 5-year pre-COVID average would differ slightly.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6D8"/>
          </a:solidFill>
          <a:ln w="12700">
            <a:solidFill>
              <a:srgbClr val="38B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Dashboards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interactive dashboards — live demo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31920" cy="2057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3931920" cy="475488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13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Panorama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arrivals, continent breakdown, Brazil vs world ranking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286000"/>
            <a:ext cx="3931920" cy="20574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86000"/>
            <a:ext cx="3931920" cy="475488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13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Deep Dive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timeline, who visits, entry routes, seasonality, state 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4897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0020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600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underway — 2024 surpasses 2019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 avg ~5.7M/yr vs pre-COVID ~6.4M. However, 2024 reached 6.7M — the first year to surpass the pre-COVID peak.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160020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73152" cy="1600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neighbours drive arrivals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Argentina alone = ~33% of all arrivals. 7 of the top 10 origin countries are South American neighbours.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0020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1600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is king — but winter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arrivals in summer (Carnaval + Réveillon + beach season). Winter secondary peak from Northern Hemisphere school holidays.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60020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26080"/>
            <a:ext cx="73152" cy="1600200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dominates, sea recovering slowest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entries recovering fastest post-COVID. Sea entries (cruise ships) show the slowest recovery — cruise tourism rebuilds confidence slowly.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Travel Recommender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Streamlit app that recommends Brazilian destinations based on user travel preferences.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100584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65960" cy="329184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travel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— January to December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965960" cy="100584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325880"/>
            <a:ext cx="1965960" cy="329184"/>
          </a:xfrm>
          <a:prstGeom prst="rect">
            <a:avLst/>
          </a:prstGeom>
          <a:solidFill>
            <a:srgbClr val="38B6D8"/>
          </a:solidFill>
          <a:ln w="12700">
            <a:solidFill>
              <a:srgbClr val="38B6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Nature, beach, culture, adventure, city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08576" y="1325880"/>
            <a:ext cx="1965960" cy="100584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325880"/>
            <a:ext cx="1965960" cy="329184"/>
          </a:xfrm>
          <a:prstGeom prst="rect">
            <a:avLst/>
          </a:prstGeom>
          <a:solidFill>
            <a:srgbClr val="D9A055"/>
          </a:solidFill>
          <a:ln w="12700">
            <a:solidFill>
              <a:srgbClr val="D9A0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preference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 the buzz vs prefer quiet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9984" y="1325880"/>
            <a:ext cx="1965960" cy="100584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1325880"/>
            <a:ext cx="1965960" cy="329184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preference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21424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Hot, warm, mild, cool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468880"/>
            <a:ext cx="8412480" cy="1920240"/>
          </a:xfrm>
          <a:prstGeom prst="rect">
            <a:avLst/>
          </a:prstGeom>
          <a:solidFill>
            <a:srgbClr val="D6EEF7"/>
          </a:solidFill>
          <a:ln w="12700">
            <a:solidFill>
              <a:srgbClr val="D6E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365760" y="2468880"/>
            <a:ext cx="8412480" cy="34747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96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returns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Destination name, state and image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and good months to visit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and crowd level profile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7698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this month is great for this place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7698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Brief description and highlights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37698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 to explore more on visitbrasil.com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31" name="Text 29">
            <a:hlinkClick r:id="rId3"/>
          </p:cNvPr>
          <p:cNvSpPr/>
          <p:nvPr/>
        </p:nvSpPr>
        <p:spPr>
          <a:xfrm>
            <a:off x="502920" y="4489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200400" cy="3931920"/>
          </a:xfrm>
          <a:prstGeom prst="rect">
            <a:avLst/>
          </a:prstGeom>
          <a:solidFill>
            <a:srgbClr val="D6EEF7"/>
          </a:solidFill>
          <a:ln w="12700">
            <a:solidFill>
              <a:srgbClr val="D6E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200400" cy="438912"/>
          </a:xfrm>
          <a:prstGeom prst="rect">
            <a:avLst/>
          </a:prstGeom>
          <a:solidFill>
            <a:srgbClr val="0D7EA8"/>
          </a:solidFill>
          <a:ln w="12700">
            <a:solidFill>
              <a:srgbClr val="0D7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509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2025 &amp; 2026 data to enable a true balanced comparison: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Pre-COVID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2015–2019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2084832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2944368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only 3 post-COVID years available. Adding 2025–2026 data would create a symmetrical 5-year vs 5-year comparison for a more reliable recovery analysis.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914400"/>
            <a:ext cx="4937760" cy="3931920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914400"/>
            <a:ext cx="4937760" cy="438912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9509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Recommender App — Future Development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50208" y="1508760"/>
            <a:ext cx="47365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0208" y="1508760"/>
            <a:ext cx="54864" cy="56692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5453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data updates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78224" y="17830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best months and good months as tourism patterns evolve.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50208" y="2167128"/>
            <a:ext cx="47365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0208" y="2167128"/>
            <a:ext cx="54864" cy="56692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8224" y="22037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destination 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78224" y="24414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51 destinations. Idea is to grow it to cover more municipalities and hidden gems across all states.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50208" y="2825496"/>
            <a:ext cx="47365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50208" y="2825496"/>
            <a:ext cx="54864" cy="56692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28620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event calendar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78224" y="30998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 real-time events calendar so recommendations reflect upcoming festivals and local events that might not be a driven on themselves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50208" y="3483864"/>
            <a:ext cx="47365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0208" y="3483864"/>
            <a:ext cx="54864" cy="56692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8224" y="35204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Multi-destination trips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78224" y="37581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users to plan itineraries with multiple destinations, optimised by geography and travel 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50208" y="4142232"/>
            <a:ext cx="47365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50208" y="4142232"/>
            <a:ext cx="54864" cy="566928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41788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recommendations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78224" y="4416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more personalised approaches beyond rule-based filtering.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 Insights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7E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is back — and the data proves it.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3200400" cy="36576"/>
          </a:xfrm>
          <a:prstGeom prst="rect">
            <a:avLst/>
          </a:prstGeom>
          <a:solidFill>
            <a:srgbClr val="F4A324"/>
          </a:solidFill>
          <a:ln w="12700">
            <a:solidFill>
              <a:srgbClr val="F4A3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Cascione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github.com/craftedbygaby  |  IronHack Data Analytics Bootcamp  |  May 2026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251960"/>
            <a:ext cx="3200400" cy="612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881</Words>
  <Application>Microsoft Office PowerPoint</Application>
  <PresentationFormat>Apresentação na tela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Brazil's Road Back</dc:title>
  <dc:subject>PptxGenJS Presentation</dc:subject>
  <dc:creator>Gabriela Cascione</dc:creator>
  <cp:lastModifiedBy>Gabriela Silva Cascione</cp:lastModifiedBy>
  <cp:revision>9</cp:revision>
  <dcterms:created xsi:type="dcterms:W3CDTF">2026-05-28T07:26:08Z</dcterms:created>
  <dcterms:modified xsi:type="dcterms:W3CDTF">2026-05-28T09:31:20Z</dcterms:modified>
</cp:coreProperties>
</file>